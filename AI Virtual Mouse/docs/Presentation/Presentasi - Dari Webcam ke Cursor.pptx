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ilda Display" charset="1" panose="02000000000000000000"/>
      <p:regular r:id="rId22"/>
    </p:embeddedFont>
    <p:embeddedFont>
      <p:font typeface="HK Grotesk Light" charset="1" panose="00000400000000000000"/>
      <p:regular r:id="rId23"/>
    </p:embeddedFont>
    <p:embeddedFont>
      <p:font typeface="HK Grotesk Bold" charset="1" panose="00000800000000000000"/>
      <p:regular r:id="rId24"/>
    </p:embeddedFont>
    <p:embeddedFont>
      <p:font typeface="HK Grotesk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707699"/>
            <a:ext cx="6886575" cy="4202188"/>
            <a:chOff x="0" y="0"/>
            <a:chExt cx="9182100" cy="560291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549543"/>
              <a:ext cx="9182100" cy="305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689"/>
                </a:lnSpc>
              </a:pPr>
              <a:r>
                <a:rPr lang="en-US" sz="8689">
                  <a:solidFill>
                    <a:srgbClr val="FCA311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Dari Webcam ke Cursor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  <a:spcBef>
                  <a:spcPct val="0"/>
                </a:spcBef>
              </a:pPr>
              <a:r>
                <a:rPr lang="en-US" sz="4200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Gambaran AI Virtual Mouse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29 Mei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CA311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Tujuan Belajar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Sesi ini bertujuan untuk memahami dasar teknologi yang digunakan dalam AI Virtual Mouse, serta alur sistem dari kamera hingga kontrol kursor yang lebih efektif.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Memahami Alur Sistem AI Virtual Mouse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CA311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Fondasi Tool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Memahami OpenCV dan MediaPipe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3659267"/>
            <a:chOff x="0" y="0"/>
            <a:chExt cx="7264400" cy="487902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OpenCV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5700"/>
              <a:ext cx="7264400" cy="3723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29"/>
                </a:lnSpc>
              </a:pPr>
              <a:r>
                <a:rPr lang="en-US" sz="2868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OpenCV adalah </a:t>
              </a:r>
              <a:r>
                <a:rPr lang="en-US" b="true" sz="2868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library computer vision</a:t>
              </a:r>
              <a:r>
                <a:rPr lang="en-US" sz="2868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yang memudahkan pembacaan webcam, pemrosesan frame, dan menampilkan overlay dengan visualisasi yang efektif dalam proyek ini.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3659267"/>
            <a:chOff x="0" y="0"/>
            <a:chExt cx="7264400" cy="487902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MediaPipe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7264400" cy="3723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29"/>
                </a:lnSpc>
              </a:pPr>
              <a:r>
                <a:rPr lang="en-US" sz="2868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MediaPipe berfungsi sebagai </a:t>
              </a:r>
              <a:r>
                <a:rPr lang="en-US" b="true" sz="2868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framework machine learning</a:t>
              </a:r>
              <a:r>
                <a:rPr lang="en-US" sz="2868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untuk mendeteksi struktur tangan dan menghasilkan titik landmark penting seperti ujung jari untuk interaksi yang lebih akurat.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659267"/>
            <a:chOff x="0" y="0"/>
            <a:chExt cx="7264400" cy="487902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Konsep Pemisahan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55700"/>
              <a:ext cx="7264400" cy="3723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29"/>
                </a:lnSpc>
              </a:pPr>
              <a:r>
                <a:rPr lang="en-US" sz="2868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Pemisahan konsep antara OpenCV dan MediaPipe memastikan bahwa OpenCV fokus pada visualisasi gambar, sedangkan MediaPipe menangani pemahaman posisi tangan secara mendalam.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56052">
            <a:off x="-3053910" y="7516388"/>
            <a:ext cx="6407041" cy="7627430"/>
          </a:xfrm>
          <a:custGeom>
            <a:avLst/>
            <a:gdLst/>
            <a:ahLst/>
            <a:cxnLst/>
            <a:rect r="r" b="b" t="t" l="l"/>
            <a:pathLst>
              <a:path h="7627430" w="6407041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6886575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  <a:spcBef>
                <a:spcPct val="0"/>
              </a:spcBef>
            </a:pPr>
            <a:r>
              <a:rPr lang="en-US" sz="8799" strike="noStrike" u="none">
                <a:solidFill>
                  <a:srgbClr val="FCA311"/>
                </a:solidFill>
                <a:latin typeface="Gilda Display"/>
                <a:ea typeface="Gilda Display"/>
                <a:cs typeface="Gilda Display"/>
                <a:sym typeface="Gilda Display"/>
              </a:rPr>
              <a:t>MediaPipe Solutions dan Tasks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65722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734675" y="666843"/>
            <a:ext cx="6886575" cy="3286125"/>
            <a:chOff x="0" y="0"/>
            <a:chExt cx="9182100" cy="43815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Ringkasan Solutions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55700"/>
              <a:ext cx="9182100" cy="322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sz="2999" strike="noStrike" u="none">
                  <a:solidFill>
                    <a:srgbClr val="E5E5E5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MediaPipe Solutions adalah API high-level yang populer pada tutorial awal. API ini memudahkan deteksi tangan dan landmark dengan kode yang relatif singkat, cocok untuk prototype cepat.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296400" y="513397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34675" y="5143500"/>
            <a:ext cx="6886575" cy="4257675"/>
            <a:chOff x="0" y="0"/>
            <a:chExt cx="9182100" cy="56769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Ringkasan Tasks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9182100" cy="452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sz="2999" strike="noStrike" u="none">
                  <a:solidFill>
                    <a:srgbClr val="E5E5E5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MediaPipe Tasks adalah API task-oriented yang memakai HandLandmarker dan model .task. Pada prototype eksperimental, Tasks diprioritaskan karena lebih eksplisit, modular, dan cocok untuk pipeline yang bisa dicatat metadatanya.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CA311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Alur Sistem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Dari Kamera ke Cursor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5143500"/>
            <a:ext cx="6886575" cy="3333750"/>
            <a:chOff x="0" y="0"/>
            <a:chExt cx="9182100" cy="4445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Pembacaan Frame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55700"/>
              <a:ext cx="9182100" cy="328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Webcam membaca frame secara berurutan menggunakan OpenCV, mengubah gambar menjadi data yang dapat diproses untuk mendeteksi posisi tangan dan landmark yang relevan.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5143500"/>
            <a:ext cx="6886575" cy="3333750"/>
            <a:chOff x="0" y="0"/>
            <a:chExt cx="9182100" cy="44450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Deteksi Landmark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55700"/>
              <a:ext cx="9182100" cy="328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MediaPipe kemudian mendeteksi 21 landmark pada tangan, mengubah data visual menjadi informasi terstruktur untuk menangkap gerakan dan menentukan aksi kursor.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65722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6886575" cy="1838325"/>
            <a:chOff x="0" y="0"/>
            <a:chExt cx="9182100" cy="24511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Gerakan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68400"/>
              <a:ext cx="9182100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Jari telunjuk aktif untuk mengarahkan kursor dengan presisi.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296400" y="334327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34675" y="3352800"/>
            <a:ext cx="6886575" cy="1828800"/>
            <a:chOff x="0" y="0"/>
            <a:chExt cx="9182100" cy="24384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Klik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Gestur pinch yang stabil menghasilkan satu event klik yang lebih terkendali.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602932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34675" y="6033135"/>
            <a:ext cx="6886575" cy="1834515"/>
            <a:chOff x="0" y="0"/>
            <a:chExt cx="9182100" cy="24460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Jeda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63320"/>
              <a:ext cx="9182100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Telapak terbuka menghentikan kontrol sementara dalam runtime yang aman.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838200"/>
            <a:ext cx="6886575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CA311"/>
                </a:solidFill>
                <a:latin typeface="Gilda Display"/>
                <a:ea typeface="Gilda Display"/>
                <a:cs typeface="Gilda Display"/>
                <a:sym typeface="Gilda Display"/>
              </a:rPr>
              <a:t>Model Gesture yang Dipakai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156052">
            <a:off x="-3053910" y="7516388"/>
            <a:ext cx="6407041" cy="7627430"/>
          </a:xfrm>
          <a:custGeom>
            <a:avLst/>
            <a:gdLst/>
            <a:ahLst/>
            <a:cxnLst/>
            <a:rect r="r" b="b" t="t" l="l"/>
            <a:pathLst>
              <a:path h="7627430" w="6407041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629149"/>
            <a:chOff x="0" y="0"/>
            <a:chExt cx="11099800" cy="61721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Baseline menunjukkan pendekatan tutorial: gerakan tangan dideteksi, landmark jari dipakai untuk menggerakkan kursor, lalu kondisi pinch langsung diterjemahkan menjadi klik.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  <a:spcBef>
                  <a:spcPct val="0"/>
                </a:spcBef>
              </a:pPr>
              <a:r>
                <a:rPr lang="en-US" sz="8799" strike="noStrike" u="none">
                  <a:solidFill>
                    <a:srgbClr val="FCA311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Prototype Baseline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019424"/>
            <a:chOff x="0" y="0"/>
            <a:chExt cx="11099800" cy="40258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573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Kode pada </a:t>
              </a: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baseline ini sangat rentan</a:t>
              </a:r>
              <a:r>
                <a:rPr lang="en-US" sz="3000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terhadap false clicks karena kondisi klik yang tidak terkontrol di dalam loop frame.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CA311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Masalah Kode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6886575" cy="5372100"/>
            <a:chOff x="0" y="0"/>
            <a:chExt cx="1200275" cy="936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936314"/>
            </a:xfrm>
            <a:custGeom>
              <a:avLst/>
              <a:gdLst/>
              <a:ahLst/>
              <a:cxnLst/>
              <a:rect r="r" b="b" t="t" l="l"/>
              <a:pathLst>
                <a:path h="936314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85" t="0" r="-8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450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  <a:spcBef>
                <a:spcPct val="0"/>
              </a:spcBef>
            </a:pPr>
            <a:r>
              <a:rPr lang="en-US" sz="8799" strike="noStrike" u="none">
                <a:solidFill>
                  <a:srgbClr val="FCA311"/>
                </a:solidFill>
                <a:latin typeface="Gilda Display"/>
                <a:ea typeface="Gilda Display"/>
                <a:cs typeface="Gilda Display"/>
                <a:sym typeface="Gilda Display"/>
              </a:rPr>
              <a:t>Perubahan Arsitektur Improved Pipeline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7829550"/>
            <a:ext cx="6886575" cy="1302131"/>
            <a:chOff x="0" y="0"/>
            <a:chExt cx="9182100" cy="173617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Peningkatan Utama pada Alur Sistem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79653"/>
              <a:ext cx="9182100" cy="956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Menyoroti perubahan penting untuk membuat kontrol lebih stabil, aman, dan mudah diuji.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CA311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Arsitektur Kode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Memahami alur pipeline yang diperbaiki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4060031"/>
            <a:chOff x="0" y="0"/>
            <a:chExt cx="7264400" cy="54133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Pelacak Tangan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7264400" cy="424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  <a:spcBef>
                  <a:spcPct val="0"/>
                </a:spcBef>
              </a:pPr>
              <a:r>
                <a:rPr lang="en-US" sz="2812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Pelacak tangan menggunakan MediaPipe Tasks sebagai prioritas dan Solutions sebagai fallback. Tujuannya bukan sekadar mengganti library, tetapi membuat backend lebih eksplisit dan tercatat.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3145631"/>
            <a:chOff x="0" y="0"/>
            <a:chExt cx="7264400" cy="419417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Mesin Gestur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65225"/>
              <a:ext cx="7264400" cy="302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  <a:spcBef>
                  <a:spcPct val="0"/>
                </a:spcBef>
              </a:pPr>
              <a:r>
                <a:rPr lang="en-US" sz="2812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Mesin gestur menerjemahkan status jari dan jarak pinch menjadi state seperti move, click, pause, atau idle, sehingga logika interaksi lebih mudah diuji.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602831"/>
            <a:chOff x="0" y="0"/>
            <a:chExt cx="7264400" cy="480377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Pipeline Kontrol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65225"/>
              <a:ext cx="7264400" cy="363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  <a:spcBef>
                  <a:spcPct val="0"/>
                </a:spcBef>
              </a:pPr>
              <a:r>
                <a:rPr lang="en-US" sz="2812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Pipeline kontrol menggabungkan tracking, mapping, smoothing, debounce, pause, safety, dan metrik teknis dalam satu alur sebelum output diterapkan ke runtime.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56052">
            <a:off x="-3053910" y="7516388"/>
            <a:ext cx="6407041" cy="7627430"/>
          </a:xfrm>
          <a:custGeom>
            <a:avLst/>
            <a:gdLst/>
            <a:ahLst/>
            <a:cxnLst/>
            <a:rect r="r" b="b" t="t" l="l"/>
            <a:pathLst>
              <a:path h="7627430" w="6407041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6886575" cy="450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CA311"/>
                </a:solidFill>
                <a:latin typeface="Gilda Display"/>
                <a:ea typeface="Gilda Display"/>
                <a:cs typeface="Gilda Display"/>
                <a:sym typeface="Gilda Display"/>
              </a:rPr>
              <a:t>Logika Debounce: Stabilkan Klik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65722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734675" y="666843"/>
            <a:ext cx="6886575" cy="2800350"/>
            <a:chOff x="0" y="0"/>
            <a:chExt cx="9182100" cy="3733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Klik Mentah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55700"/>
              <a:ext cx="9182100" cy="257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sz="2999" strike="noStrike" u="none">
                  <a:solidFill>
                    <a:srgbClr val="E5E5E5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Klik mentah terdeteksi ketika pinch aktif pada satu frame. Tanpa kontrol state, kondisi ini dapat menghasilkan banyak event klik dari satu gesture yang ditahan.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296400" y="513397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34675" y="5143500"/>
            <a:ext cx="6886575" cy="3286125"/>
            <a:chOff x="0" y="0"/>
            <a:chExt cx="9182100" cy="43815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Stabil Klik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9182100" cy="322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E5E5E5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Dengan menerapkan logika debounce, sistem memastikan hanya satu event klik yang terproduksi ketika pinch stabil, meningkatkan keandalan interaksi dan mengurangi klik yang tidak diinginkan.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56052">
            <a:off x="-3053910" y="7516388"/>
            <a:ext cx="6407041" cy="7627430"/>
          </a:xfrm>
          <a:custGeom>
            <a:avLst/>
            <a:gdLst/>
            <a:ahLst/>
            <a:cxnLst/>
            <a:rect r="r" b="b" t="t" l="l"/>
            <a:pathLst>
              <a:path h="7627430" w="6407041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6886575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  <a:spcBef>
                <a:spcPct val="0"/>
              </a:spcBef>
            </a:pPr>
            <a:r>
              <a:rPr lang="en-US" sz="8799" strike="noStrike" u="none">
                <a:solidFill>
                  <a:srgbClr val="FCA311"/>
                </a:solidFill>
                <a:latin typeface="Gilda Display"/>
                <a:ea typeface="Gilda Display"/>
                <a:cs typeface="Gilda Display"/>
                <a:sym typeface="Gilda Display"/>
              </a:rPr>
              <a:t>Keamanan pada Konteks Runtime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65722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734675" y="666843"/>
            <a:ext cx="6886575" cy="3286125"/>
            <a:chOff x="0" y="0"/>
            <a:chExt cx="9182100" cy="43815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Runtime Mouse Nyata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55700"/>
              <a:ext cx="9182100" cy="322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sz="2999" strike="noStrike" u="none">
                  <a:solidFill>
                    <a:srgbClr val="E5E5E5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Real Mouse Runtime berinteraksi langsung dengan kursor sistem operasi. Karena itu, kontrol keamanan seperti pause gesture dan safe quit diperlukan untuk mencegah aksi tidak disengaja.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296400" y="513397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34675" y="5143500"/>
            <a:ext cx="6886575" cy="3286125"/>
            <a:chOff x="0" y="0"/>
            <a:chExt cx="9182100" cy="43815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Runtime Benchmark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9182100" cy="322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sz="2999" strike="noStrike" u="none">
                  <a:solidFill>
                    <a:srgbClr val="E5E5E5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Benchmark Runtime memakai kursor simulasi di Pygame. Input mouse asli tidak disentuh, sehingga eksperimen dapat mengukur kontrol tangan tanpa mengganggu sistem operasi.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3832">
            <a:off x="-4531687" y="6137129"/>
            <a:ext cx="8157874" cy="9711754"/>
          </a:xfrm>
          <a:custGeom>
            <a:avLst/>
            <a:gdLst/>
            <a:ahLst/>
            <a:cxnLst/>
            <a:rect r="r" b="b" t="t" l="l"/>
            <a:pathLst>
              <a:path h="9711754" w="815787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1695450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CA311"/>
                </a:solidFill>
                <a:latin typeface="Gilda Display"/>
                <a:ea typeface="Gilda Display"/>
                <a:cs typeface="Gilda Display"/>
                <a:sym typeface="Gilda Display"/>
              </a:rPr>
              <a:t>Metode Benchmark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5143500"/>
            <a:ext cx="8324850" cy="3276600"/>
            <a:chOff x="0" y="0"/>
            <a:chExt cx="11099800" cy="4368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Proses untuk mengukur interaksi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39900"/>
              <a:ext cx="110998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Target di grid Pygame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Klik dalam radius target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Hit rate dan false clicks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Waktu penyelesaian setiap trial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56052">
            <a:off x="-3053910" y="7516388"/>
            <a:ext cx="6407041" cy="7627430"/>
          </a:xfrm>
          <a:custGeom>
            <a:avLst/>
            <a:gdLst/>
            <a:ahLst/>
            <a:cxnLst/>
            <a:rect r="r" b="b" t="t" l="l"/>
            <a:pathLst>
              <a:path h="7627430" w="6407041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6886575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CA311"/>
                </a:solidFill>
                <a:latin typeface="Gilda Display"/>
                <a:ea typeface="Gilda Display"/>
                <a:cs typeface="Gilda Display"/>
                <a:sym typeface="Gilda Display"/>
              </a:rPr>
              <a:t>Hasil dan Klaim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65722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734675" y="666843"/>
            <a:ext cx="6886575" cy="3286125"/>
            <a:chOff x="0" y="0"/>
            <a:chExt cx="9182100" cy="43815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Tingkat Keberhasilan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55700"/>
              <a:ext cx="9182100" cy="322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Tingkat keberhasilan target untuk baseline dan improved sessions mencapai 100%, sehingga keduanya berhasil menyelesaikan target pada benchmark.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296400" y="513397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E5E5E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34675" y="5143500"/>
            <a:ext cx="6886575" cy="2800350"/>
            <a:chOff x="0" y="0"/>
            <a:chExt cx="9182100" cy="37338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Klik Tidak Disengaja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9182100" cy="257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Rata-rata klik tidak disengaja turun dari 192.8 pada baseline menjadi 4.2 pada improved pipeline. Ini adalah klaim terkuat dari eksperimen.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CA311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Ringkasan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Pembelajaran dari Sesi Ini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3716179"/>
            <a:chOff x="0" y="0"/>
            <a:chExt cx="7264400" cy="495490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AI Virtual Mouse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5700"/>
              <a:ext cx="7264400" cy="3799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3"/>
                </a:lnSpc>
              </a:pPr>
              <a:r>
                <a:rPr lang="en-US" sz="2887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Interaksi dengan AI Virtual Mouse melibatkan </a:t>
              </a:r>
              <a:r>
                <a:rPr lang="en-US" b="true" sz="2887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pipeline kompleks</a:t>
              </a:r>
              <a:r>
                <a:rPr lang="en-US" sz="2887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memanfaatkan computer vision untuk mendeteksi tangan dan mengubah gerakan menjadi kontrol kursor.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3716179"/>
            <a:chOff x="0" y="0"/>
            <a:chExt cx="7264400" cy="495490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Peningkatan Pipeline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7264400" cy="3799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3"/>
                </a:lnSpc>
              </a:pPr>
              <a:r>
                <a:rPr lang="en-US" sz="2887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Perbaikan dalam pipeline mengurangi </a:t>
              </a:r>
              <a:r>
                <a:rPr lang="en-US" b="true" sz="2887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false clicks</a:t>
              </a:r>
              <a:r>
                <a:rPr lang="en-US" sz="2887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dan meningkatkan reliabilitas interaksi, memungkinkan pengguna untuk lebih mudah dan aman saat menggunakan teknologi ini.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239929"/>
            <a:chOff x="0" y="0"/>
            <a:chExt cx="7264400" cy="431990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5E5E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Benchmark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55700"/>
              <a:ext cx="7264400" cy="316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3"/>
                </a:lnSpc>
                <a:spcBef>
                  <a:spcPct val="0"/>
                </a:spcBef>
              </a:pPr>
              <a:r>
                <a:rPr lang="en-US" sz="2887" strike="noStrike" u="none">
                  <a:solidFill>
                    <a:srgbClr val="E5E5E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Metode benchmark yang jelas menghasilkan data evaluasi untuk tingkat keberhasilan, klik tidak disengaja, total klik, dan waktu penyelesaian.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00848">
            <a:off x="12064338" y="5278644"/>
            <a:ext cx="13730046" cy="12931207"/>
          </a:xfrm>
          <a:custGeom>
            <a:avLst/>
            <a:gdLst/>
            <a:ahLst/>
            <a:cxnLst/>
            <a:rect r="r" b="b" t="t" l="l"/>
            <a:pathLst>
              <a:path h="12931207" w="13730046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913298" y="4050279"/>
            <a:ext cx="14461403" cy="2538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16"/>
              </a:lnSpc>
            </a:pPr>
            <a:r>
              <a:rPr lang="en-US" sz="19016">
                <a:solidFill>
                  <a:srgbClr val="FCA311"/>
                </a:solidFill>
                <a:latin typeface="Gilda Display"/>
                <a:ea typeface="Gilda Display"/>
                <a:cs typeface="Gilda Display"/>
                <a:sym typeface="Gilda Display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Dari Webcam ke Cursor</dc:description>
  <dc:identifier>DAHLDTFZMPc</dc:identifier>
  <dcterms:modified xsi:type="dcterms:W3CDTF">2011-08-01T06:04:30Z</dcterms:modified>
  <cp:revision>1</cp:revision>
  <dc:title>Presentasi - Dari Webcam ke Cursor</dc:title>
</cp:coreProperties>
</file>